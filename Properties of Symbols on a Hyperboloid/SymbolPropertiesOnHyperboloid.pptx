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76" r:id="rId5"/>
    <p:sldId id="260" r:id="rId6"/>
    <p:sldId id="265" r:id="rId7"/>
    <p:sldId id="263" r:id="rId8"/>
    <p:sldId id="264" r:id="rId9"/>
    <p:sldId id="266" r:id="rId10"/>
    <p:sldId id="267" r:id="rId11"/>
    <p:sldId id="269" r:id="rId12"/>
    <p:sldId id="268" r:id="rId13"/>
    <p:sldId id="270" r:id="rId14"/>
    <p:sldId id="271" r:id="rId15"/>
    <p:sldId id="277" r:id="rId16"/>
    <p:sldId id="278" r:id="rId17"/>
    <p:sldId id="27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94"/>
  </p:normalViewPr>
  <p:slideViewPr>
    <p:cSldViewPr snapToGrid="0">
      <p:cViewPr varScale="1">
        <p:scale>
          <a:sx n="72" d="100"/>
          <a:sy n="72" d="100"/>
        </p:scale>
        <p:origin x="4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EA77-D801-11BD-158C-A54A77D38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4A455-D2D3-CCB5-7D2D-5AAAB01C4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1F58-84FC-541B-CFB1-EA74C6A8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14BFE-CE65-0369-6E11-8E761293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8173-1FF0-4C22-1423-28C3204C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0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22E9-6E57-AD28-C79A-5DA6C446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D810-7778-0CF7-0A1C-0CF435135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5AAC2-F8B9-1D87-119F-58C0E5D2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37060-6841-78C3-D910-9E8D6C3D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29031-A079-74C8-0C4A-66ED8829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6FAE-7B69-61FF-BD39-F528C211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44D76-60B6-6080-5354-2878673F2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F09E4-ABE0-233D-690A-EC542014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B71EF-930B-757E-78EF-67F89FCB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699A2-C252-B3C6-D96C-C39DAC16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C02C-67DB-5081-665C-37330836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DC87B-86AF-9239-286C-C0D3ECB4B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134F3-5330-8861-BC88-80EAD8484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B921A-E804-8A03-BE77-B9961840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233D3-959F-8F47-9465-B33BF415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23480-D13B-5172-00BB-41F8D2C5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4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B473-2D2F-3D72-D9C1-F0C23EE9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F67D-A705-010B-B816-B46B31D1A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8B5E2-AD0B-3345-59F0-623FDA66B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ACC6B-4DF6-7B9F-ED89-EF994E884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739B6-26DD-2BB4-2F08-379D0997D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B68A3-4F1E-A965-B3E4-CD1F1CF4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ED6AD-F352-DA46-EE14-B2A0E5FC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FA66B-BD8C-6CEF-9A7A-ECCD4C9F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E1F6-98A5-267B-2DCC-8A58C0DB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4DAE5-0C9E-99F7-47B4-3FF903C8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ABD96-8D6A-5D46-031A-548737EC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8FD8C-4C5E-BBFA-372E-269E9744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2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92DFC-F7E6-F702-1187-E301E354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CC5AC-1084-9158-3091-D517E24E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784A3-E144-3CCA-460F-B58247DF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5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836B-8102-22ED-D7CE-C9258537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E6488-BDDE-9C43-BE50-B0C5C53A3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8C8BD-5D51-97C1-F885-C2771B518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1D2D5-0C6A-B626-D568-914260EE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9EB87-2BA6-55FB-58E0-E6BE8D19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CBD48-F508-EE6F-AD61-7C61309E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9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2768-E5DB-4D02-3E45-4DB92940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C76AB-2B8F-C366-CDB8-E04749A3E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95393-7214-42E5-F954-B8C997962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5DD14-A9CE-77DC-476D-73FFB303B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777AF-727B-F7BC-0E60-EE79B9E9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8E85C-9843-9492-1CF4-A6E43390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6DD6-18D0-21A3-B4EE-7D9844FC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63F06-AF41-DA65-7773-695D1F570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2995E-CC79-7E3D-7D26-C25E4E76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56ED-1A4D-2C76-E5B4-7F04249E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32169-1CCF-2680-F878-E9A92D29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5CAE2-4884-20A8-5900-1F9BF55CB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68D16-182C-A29E-A132-EFBA7FCF2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8E432-0C24-083D-97E0-4DE88B24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F5200-E1CC-43E9-4BEF-C0BE5784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E425B-E224-14B2-EBF5-0F61E936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8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5CCAD-8A82-24BE-105B-34FD6D2F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B8F6A-FD8D-2FFF-672A-17DF0C6ED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09D9-488C-B564-17D6-340FF2813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E491E-BE0C-433F-9D9F-315C09F9C9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137F0-FBA4-6664-4A98-531E5AC37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FB73-D534-84FB-2D49-F1BBD63F7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00230-3FED-473E-A6D0-FB4844F83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gif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8A65B-BDCF-2DBE-025E-3C0EA52A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Properties of Symbols on a Hyperboloid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10E65-2B15-EE3E-B9E9-45144EFFA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Simon Browning</a:t>
            </a:r>
          </a:p>
          <a:p>
            <a:pPr algn="l"/>
            <a:r>
              <a:rPr lang="en-US"/>
              <a:t>Advisor: Dr. Alexander Karabegov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Skewer Hyperboloids">
            <a:extLst>
              <a:ext uri="{FF2B5EF4-FFF2-40B4-BE49-F238E27FC236}">
                <a16:creationId xmlns:a16="http://schemas.microsoft.com/office/drawing/2014/main" id="{8CB4CFB9-A3D0-ED50-D55B-EFD082710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1843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39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53A55-6321-A844-DF10-ED3EC82F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Classical Vs. Quantum Mechanics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B7FFD-4B7D-3D67-D59D-548F53CC9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Classical Mechanics (CM) – What we experience on a daily basis.</a:t>
            </a:r>
          </a:p>
          <a:p>
            <a:r>
              <a:rPr lang="en-US" sz="2000" dirty="0"/>
              <a:t>Quantum Mechanics (QM) – Applies at the subatomic level.</a:t>
            </a:r>
          </a:p>
          <a:p>
            <a:r>
              <a:rPr lang="en-US" sz="2000" dirty="0"/>
              <a:t>Fundamentally distinct – QM only allows physical properties of a system, such as momentum and energy, to exist in discrete quantities.</a:t>
            </a:r>
          </a:p>
        </p:txBody>
      </p:sp>
      <p:pic>
        <p:nvPicPr>
          <p:cNvPr id="1026" name="Picture 2" descr="The Quantum Atlas | Quantum vs. Classical">
            <a:extLst>
              <a:ext uri="{FF2B5EF4-FFF2-40B4-BE49-F238E27FC236}">
                <a16:creationId xmlns:a16="http://schemas.microsoft.com/office/drawing/2014/main" id="{2665AE7A-5868-DBE8-51DB-ED052E329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63678"/>
            <a:ext cx="5150277" cy="275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F5FB1-B992-D3CC-5F96-3FD411021C55}"/>
              </a:ext>
            </a:extLst>
          </p:cNvPr>
          <p:cNvSpPr txBox="1"/>
          <p:nvPr/>
        </p:nvSpPr>
        <p:spPr>
          <a:xfrm>
            <a:off x="7590317" y="5818073"/>
            <a:ext cx="1792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The Quantum Atlas</a:t>
            </a:r>
          </a:p>
        </p:txBody>
      </p:sp>
    </p:spTree>
    <p:extLst>
      <p:ext uri="{BB962C8B-B14F-4D97-AF65-F5344CB8AC3E}">
        <p14:creationId xmlns:p14="http://schemas.microsoft.com/office/powerpoint/2010/main" val="306092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2B2B7-2834-643A-33D8-BC749C78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52AC76D-9A8D-597B-AEE5-11DA02552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95A16-3659-EA5F-8EBB-61FFA9F1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Flat Phase Space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1C1AAAF-6F04-AD7F-35A2-44656692D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B92966C-3FBF-DD42-A286-735576705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1BC91-63F8-D35A-751A-8C2280B06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9"/>
                <a:ext cx="4530898" cy="3639450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dirty="0"/>
                  <a:t>Describes physical systems in terms of position and momentum.</a:t>
                </a:r>
              </a:p>
              <a:p>
                <a:r>
                  <a:rPr lang="en-US" sz="2000" dirty="0"/>
                  <a:t>The canonical coordinates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can be used to generate the Heisenberg Lie algebra satisfying the commutation relations: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. This is a symmetry Lie algebra.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also satisfy the Poisson bracket relation: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1BC91-63F8-D35A-751A-8C2280B06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9"/>
                <a:ext cx="4530898" cy="3639450"/>
              </a:xfrm>
              <a:blipFill>
                <a:blip r:embed="rId2"/>
                <a:stretch>
                  <a:fillRect l="-1211" r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2976023-36A2-E47E-ECED-247FC530A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A96D0C-F1C3-B370-1EE7-097BD63B1F9E}"/>
                  </a:ext>
                </a:extLst>
              </p:cNvPr>
              <p:cNvSpPr txBox="1"/>
              <p:nvPr/>
            </p:nvSpPr>
            <p:spPr>
              <a:xfrm>
                <a:off x="5670658" y="3190275"/>
                <a:ext cx="3579567" cy="2457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Position: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Momentum: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algn="ctr"/>
                <a:r>
                  <a:rPr lang="en-US" u="sng" dirty="0"/>
                  <a:t>Poisson bracket</a:t>
                </a:r>
              </a:p>
              <a:p>
                <a:pPr algn="ctr"/>
                <a:endParaRPr lang="en-US" u="sng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A96D0C-F1C3-B370-1EE7-097BD63B1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658" y="3190275"/>
                <a:ext cx="3579567" cy="2457917"/>
              </a:xfrm>
              <a:prstGeom prst="rect">
                <a:avLst/>
              </a:prstGeom>
              <a:blipFill>
                <a:blip r:embed="rId3"/>
                <a:stretch>
                  <a:fillRect l="-1363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10B470-B75D-F05D-ED24-8672FE645778}"/>
              </a:ext>
            </a:extLst>
          </p:cNvPr>
          <p:cNvCxnSpPr/>
          <p:nvPr/>
        </p:nvCxnSpPr>
        <p:spPr>
          <a:xfrm>
            <a:off x="9250225" y="4234649"/>
            <a:ext cx="18379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BE4FD7-BBDB-F4D8-D50D-18882CE572F8}"/>
              </a:ext>
            </a:extLst>
          </p:cNvPr>
          <p:cNvCxnSpPr>
            <a:cxnSpLocks/>
          </p:cNvCxnSpPr>
          <p:nvPr/>
        </p:nvCxnSpPr>
        <p:spPr>
          <a:xfrm>
            <a:off x="10139473" y="3276531"/>
            <a:ext cx="0" cy="19162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02E5E-47B1-6675-5BE1-1B3D4B2BF380}"/>
                  </a:ext>
                </a:extLst>
              </p:cNvPr>
              <p:cNvSpPr txBox="1"/>
              <p:nvPr/>
            </p:nvSpPr>
            <p:spPr>
              <a:xfrm>
                <a:off x="9885131" y="2814010"/>
                <a:ext cx="5681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02E5E-47B1-6675-5BE1-1B3D4B2BF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131" y="2814010"/>
                <a:ext cx="56817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0B3F3F-6674-D3C8-B70F-0D001793693B}"/>
                  </a:ext>
                </a:extLst>
              </p:cNvPr>
              <p:cNvSpPr txBox="1"/>
              <p:nvPr/>
            </p:nvSpPr>
            <p:spPr>
              <a:xfrm>
                <a:off x="10951701" y="4016221"/>
                <a:ext cx="5681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0B3F3F-6674-D3C8-B70F-0D0017936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1701" y="4016221"/>
                <a:ext cx="56817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27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2D6DA-5503-E619-62CE-3D06EDE7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C74A673-EA2C-65C2-6CB0-6DCB8A87F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ED739-453C-FBC2-2911-1338C13CC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Differential Operators and Symbols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BA8F8AC-0227-6428-3C33-4AF99F103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0E5B827-9E9B-5106-2AEE-AD45D901C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CF88-2462-3B9B-7F79-4C21452F2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QM commonly uses differential operators (DOs), e.g. the momentum operator.</a:t>
            </a:r>
          </a:p>
          <a:p>
            <a:r>
              <a:rPr lang="en-US" sz="2000" dirty="0"/>
              <a:t>Each DO has an associated symbol that does not contain derivatives.</a:t>
            </a:r>
          </a:p>
          <a:p>
            <a:r>
              <a:rPr lang="en-US" sz="2000" dirty="0"/>
              <a:t>Symbols allow us to deal with multiplication of DOs without so much messy math.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C9F94BA-E3E5-39F4-9820-E8C7EB312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EC9CFBD-DADB-C07C-B1FA-7A81A38F3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3625" y="2517349"/>
                <a:ext cx="4530898" cy="36394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Composition of Operators: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Symbol Product:  Obtained from transferring from composition of operators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Leads to equivariance: If the same operation is applied to a DO and its  symbol, then the new symbol must be the symbol of the new DO.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EC9CFBD-DADB-C07C-B1FA-7A81A38F3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625" y="2517349"/>
                <a:ext cx="4530898" cy="3639450"/>
              </a:xfrm>
              <a:prstGeom prst="rect">
                <a:avLst/>
              </a:prstGeo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94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BE7DB-D5A0-049B-BF86-F4B71181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8FC1BAA-B353-CE6F-D537-B5CF1AA5D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C193E-1EF7-EA5B-8744-4D818EF2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Research Question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4E6815D-9885-8278-BE99-412FA1B76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AAA95A5-78EC-967D-B899-A62374D4D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10F03-D06F-AF6F-94D9-493E4042F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9"/>
                <a:ext cx="4530898" cy="3639450"/>
              </a:xfrm>
            </p:spPr>
            <p:txBody>
              <a:bodyPr anchor="ctr">
                <a:normAutofit fontScale="92500" lnSpcReduction="20000"/>
              </a:bodyPr>
              <a:lstStyle/>
              <a:p>
                <a:r>
                  <a:rPr lang="en-US" sz="2000" dirty="0"/>
                  <a:t>Mathematically combining CM and QM is difficult.</a:t>
                </a:r>
              </a:p>
              <a:p>
                <a:r>
                  <a:rPr lang="en-US" sz="2000" dirty="0"/>
                  <a:t>QM uses a small number called Planck’s constant, denoted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, to define the discrete units of physical quantities.</a:t>
                </a:r>
              </a:p>
              <a:p>
                <a:r>
                  <a:rPr lang="en-US" sz="2000" dirty="0"/>
                  <a:t>Since CM has no discrete units of physical quantities, any consistent mathematical framework of QM must also apply to CM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groupChr>
                      <m:groupChrPr>
                        <m:chr m:val="→"/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. This is known as the Correspondence Principle (CP).</a:t>
                </a:r>
              </a:p>
              <a:p>
                <a:r>
                  <a:rPr lang="en-US" sz="2000" dirty="0"/>
                  <a:t>Various ways of showing the CP on a flat phase space already exist.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10F03-D06F-AF6F-94D9-493E4042F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9"/>
                <a:ext cx="4530898" cy="3639450"/>
              </a:xfrm>
              <a:blipFill>
                <a:blip r:embed="rId2"/>
                <a:stretch>
                  <a:fillRect l="-942" r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C3001B-E760-A9DC-9C31-B3BB6F903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8F6E2-F045-1ACB-BC30-9A1C1F9F86C4}"/>
              </a:ext>
            </a:extLst>
          </p:cNvPr>
          <p:cNvSpPr txBox="1"/>
          <p:nvPr/>
        </p:nvSpPr>
        <p:spPr>
          <a:xfrm>
            <a:off x="6232358" y="2599509"/>
            <a:ext cx="3934590" cy="304698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Hypothesis</a:t>
            </a:r>
            <a:endParaRPr lang="en-US" sz="2400" dirty="0"/>
          </a:p>
          <a:p>
            <a:pPr algn="ctr"/>
            <a:endParaRPr lang="en-US" sz="2400" u="sng" dirty="0"/>
          </a:p>
          <a:p>
            <a:r>
              <a:rPr lang="en-US" sz="2400" dirty="0"/>
              <a:t>Can we define a symbol product on the curved phase space of a hyperboloid such that it satisfies the Correspondence Principle?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E27F5-A567-3245-DB77-794F5ECBC9CA}"/>
              </a:ext>
            </a:extLst>
          </p:cNvPr>
          <p:cNvSpPr txBox="1"/>
          <p:nvPr/>
        </p:nvSpPr>
        <p:spPr>
          <a:xfrm>
            <a:off x="7639936" y="5712231"/>
            <a:ext cx="1131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effectLst/>
              </a:rPr>
              <a:t>Bokulich</a:t>
            </a:r>
            <a:r>
              <a:rPr lang="en-US" sz="1200" dirty="0">
                <a:effectLst/>
              </a:rPr>
              <a:t> et 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700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55B3D-112D-4E78-DA32-D071A731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FA757F4-275F-8983-2172-755BE8A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48396-C3AB-589B-76C5-1B1E5B75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The Correspondence Principle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C6C20ED-9B65-DC60-8E8C-8AA6DB37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AB42CC5-6D7C-4AAB-1903-1AE21210A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6D50AD-2257-FD9F-CA84-E4C8181981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8"/>
                <a:ext cx="4530898" cy="1812693"/>
              </a:xfrm>
            </p:spPr>
            <p:txBody>
              <a:bodyPr anchor="ctr">
                <a:normAutofit fontScale="85000" lnSpcReduction="10000"/>
              </a:bodyPr>
              <a:lstStyle/>
              <a:p>
                <a:r>
                  <a:rPr lang="en-US" sz="2000" dirty="0"/>
                  <a:t>The Correspondence Principle is trickier to show in curved phase spaces.</a:t>
                </a:r>
              </a:p>
              <a:p>
                <a:r>
                  <a:rPr lang="en-US" sz="2000" dirty="0"/>
                  <a:t>As it applies to our study of DOs and their symbols, the Correspondence Principle has two parts that must be proved.</a:t>
                </a:r>
              </a:p>
              <a:p>
                <a:r>
                  <a:rPr lang="en-US" sz="2000" dirty="0"/>
                  <a:t>We will use coordinates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to work in curved phase space (more on this later).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6D50AD-2257-FD9F-CA84-E4C818198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8"/>
                <a:ext cx="4530898" cy="1812693"/>
              </a:xfrm>
              <a:blipFill>
                <a:blip r:embed="rId2"/>
                <a:stretch>
                  <a:fillRect l="-559" t="-3472" r="-279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377800F-BD8C-A911-52AF-0D151187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letters and symbols&#10;&#10;AI-generated content may be incorrect.">
            <a:extLst>
              <a:ext uri="{FF2B5EF4-FFF2-40B4-BE49-F238E27FC236}">
                <a16:creationId xmlns:a16="http://schemas.microsoft.com/office/drawing/2014/main" id="{C61A1B07-411C-FC91-BA8E-113BEF955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880" y="2725319"/>
            <a:ext cx="2791215" cy="752580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842896-CDB1-2392-C599-30C69BBC4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723" y="4736261"/>
            <a:ext cx="4715533" cy="600159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028ADA-18AC-AA81-7262-0A5577C23A1C}"/>
              </a:ext>
            </a:extLst>
          </p:cNvPr>
          <p:cNvSpPr txBox="1"/>
          <p:nvPr/>
        </p:nvSpPr>
        <p:spPr>
          <a:xfrm>
            <a:off x="6613382" y="3574155"/>
            <a:ext cx="3142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Recovery of the commutative function product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46A0ED-6182-EF4B-4772-4F69254B9034}"/>
              </a:ext>
            </a:extLst>
          </p:cNvPr>
          <p:cNvSpPr txBox="1"/>
          <p:nvPr/>
        </p:nvSpPr>
        <p:spPr>
          <a:xfrm>
            <a:off x="6716584" y="5457458"/>
            <a:ext cx="293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Recovery of the Poisson bracket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44EBC6-1CD8-D8CC-A23F-EDDBD65A7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379" y="4551503"/>
            <a:ext cx="4551038" cy="94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5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71D94-5C81-3B32-8745-A34EBBCD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1A042C51-0ACE-419E-A039-04AD72522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9241F-40DB-4D69-824A-2DC01B2A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Hyperboloids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2BDFD-2A71-5694-50A0-5FCA389B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9" y="2524721"/>
                <a:ext cx="4991629" cy="3677123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1800" dirty="0"/>
                  <a:t>A surface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dirty="0"/>
                  <a:t> where all points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on the surface satisfy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 is the central radius.</a:t>
                </a:r>
              </a:p>
              <a:p>
                <a:r>
                  <a:rPr lang="en-US" sz="1800" dirty="0"/>
                  <a:t>Since it is a surface, points on the surface can be defined locally with just two coordinates that we call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We focus our attention on hyperboloids of one sheet.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2BDFD-2A71-5694-50A0-5FCA389B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9" y="2524721"/>
                <a:ext cx="4991629" cy="3677123"/>
              </a:xfrm>
              <a:blipFill>
                <a:blip r:embed="rId2"/>
                <a:stretch>
                  <a:fillRect l="-733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urface plot">
            <a:extLst>
              <a:ext uri="{FF2B5EF4-FFF2-40B4-BE49-F238E27FC236}">
                <a16:creationId xmlns:a16="http://schemas.microsoft.com/office/drawing/2014/main" id="{CE94CD89-9482-816B-4007-469C4B44D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" r="6" b="6"/>
          <a:stretch/>
        </p:blipFill>
        <p:spPr bwMode="auto">
          <a:xfrm>
            <a:off x="7619848" y="3206589"/>
            <a:ext cx="2988960" cy="287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rface plot">
            <a:extLst>
              <a:ext uri="{FF2B5EF4-FFF2-40B4-BE49-F238E27FC236}">
                <a16:creationId xmlns:a16="http://schemas.microsoft.com/office/drawing/2014/main" id="{7DBF5AFD-C7A7-4824-69CD-DB8F0402D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" r="6" b="1258"/>
          <a:stretch/>
        </p:blipFill>
        <p:spPr bwMode="auto">
          <a:xfrm>
            <a:off x="9140952" y="613147"/>
            <a:ext cx="2212848" cy="213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urface plot">
            <a:extLst>
              <a:ext uri="{FF2B5EF4-FFF2-40B4-BE49-F238E27FC236}">
                <a16:creationId xmlns:a16="http://schemas.microsoft.com/office/drawing/2014/main" id="{ECFD0FBE-7904-E427-C690-F4BDE9899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7" r="3" b="12545"/>
          <a:stretch/>
        </p:blipFill>
        <p:spPr bwMode="auto">
          <a:xfrm>
            <a:off x="6542973" y="863010"/>
            <a:ext cx="2282703" cy="166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5DBC36-1299-0CE7-5E69-9614533A451D}"/>
                  </a:ext>
                </a:extLst>
              </p:cNvPr>
              <p:cNvSpPr txBox="1"/>
              <p:nvPr/>
            </p:nvSpPr>
            <p:spPr>
              <a:xfrm>
                <a:off x="6667655" y="2524721"/>
                <a:ext cx="2033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Hyperboloid of Two Sheets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5DBC36-1299-0CE7-5E69-9614533A4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55" y="2524721"/>
                <a:ext cx="2033337" cy="646331"/>
              </a:xfrm>
              <a:prstGeom prst="rect">
                <a:avLst/>
              </a:prstGeom>
              <a:blipFill>
                <a:blip r:embed="rId6"/>
                <a:stretch>
                  <a:fillRect l="-1802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520967-186C-E74F-50D5-AA9C1258ECAC}"/>
                  </a:ext>
                </a:extLst>
              </p:cNvPr>
              <p:cNvSpPr txBox="1"/>
              <p:nvPr/>
            </p:nvSpPr>
            <p:spPr>
              <a:xfrm>
                <a:off x="9161224" y="2663835"/>
                <a:ext cx="2172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Infinite Cone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520967-186C-E74F-50D5-AA9C1258E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224" y="2663835"/>
                <a:ext cx="2172303" cy="369332"/>
              </a:xfrm>
              <a:prstGeom prst="rect">
                <a:avLst/>
              </a:prstGeom>
              <a:blipFill>
                <a:blip r:embed="rId7"/>
                <a:stretch>
                  <a:fillRect l="-1685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20A601-D314-F0F1-0550-1486512D63AB}"/>
                  </a:ext>
                </a:extLst>
              </p:cNvPr>
              <p:cNvSpPr txBox="1"/>
              <p:nvPr/>
            </p:nvSpPr>
            <p:spPr>
              <a:xfrm>
                <a:off x="7250514" y="6017178"/>
                <a:ext cx="37276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Hyperboloid of One Sheet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20A601-D314-F0F1-0550-1486512D6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514" y="6017178"/>
                <a:ext cx="3727629" cy="369332"/>
              </a:xfrm>
              <a:prstGeom prst="rect">
                <a:avLst/>
              </a:prstGeom>
              <a:blipFill>
                <a:blip r:embed="rId8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90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0D4BC-BEA4-02D7-4F71-41EF9C23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97E936A-A89F-FD82-6677-F68EE552E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448E4-4F63-74B6-3F46-4253E786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Goals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6B5B863-3BF5-F197-53D3-F6959E6D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AC019AF-44DC-8CBD-D90C-FF0C0C2EB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E75C-B4A2-6E0E-16CC-4EBEB30AD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274" y="251734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Define symbols and the symbol product constrained to the surface of a hyperboloid of one sheet such that they satisfy the Correspondence Principle.</a:t>
            </a:r>
          </a:p>
          <a:p>
            <a:r>
              <a:rPr lang="en-US" sz="2000" dirty="0"/>
              <a:t>Ensure that our symbols and DOs are equivariant </a:t>
            </a:r>
          </a:p>
          <a:p>
            <a:r>
              <a:rPr lang="en-US" sz="2000" dirty="0"/>
              <a:t>Draw further corrections between symbols and physical principles.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C090510-0273-F71B-3E70-81FE09AF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2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A4DA5-7D43-A936-47E5-42298682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F1096D0-CBF0-62C0-CD9A-52CD1A30D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861BE-BF3D-C5E3-34EB-10B74B2D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Coordinate Transforms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33DF58E-57FA-D477-BBC1-BD77B7D8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2A91C5B-DE05-8DC7-DD4E-5F610D1D0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7A47B-87F2-4271-853F-C0998287D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9"/>
                <a:ext cx="3578289" cy="286025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dirty="0"/>
                  <a:t>We parameterize the surface of the hyperboloid expressing the coordinates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using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parameters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This gives us a definition of the Poisson bracket in terms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7A47B-87F2-4271-853F-C0998287D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9"/>
                <a:ext cx="3578289" cy="2860258"/>
              </a:xfrm>
              <a:blipFill>
                <a:blip r:embed="rId2"/>
                <a:stretch>
                  <a:fillRect l="-1413" r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85583CC-CF38-E166-4D14-3C36F9489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D3333-2B01-D570-4549-80A018FC9ABA}"/>
              </a:ext>
            </a:extLst>
          </p:cNvPr>
          <p:cNvSpPr txBox="1"/>
          <p:nvPr/>
        </p:nvSpPr>
        <p:spPr>
          <a:xfrm>
            <a:off x="6658814" y="3613414"/>
            <a:ext cx="243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Coordinate transforms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00B4D-B189-4A36-E608-3A0EA762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217" y="4565379"/>
            <a:ext cx="3814877" cy="790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8EB33-5630-8C94-9F9B-93386AA50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641" y="2862941"/>
            <a:ext cx="4576030" cy="587747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32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EC1E9-9173-AFED-3801-279CE814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816A5-15F3-9CD6-D0E8-A3F31DC01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78C9C-0B43-440A-0DB2-983E0284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Hamiltonians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0BD4A42-7F51-B3C4-5633-090670B55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EC774CD-D108-7C55-D5AD-4C317E4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8472A-4E41-906D-6695-2F7A5D1B7F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321" y="2562852"/>
                <a:ext cx="3260981" cy="1084714"/>
              </a:xfrm>
            </p:spPr>
            <p:txBody>
              <a:bodyPr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We use the Lie algebra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(2,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has a basis that consists of three generators: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8472A-4E41-906D-6695-2F7A5D1B7F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321" y="2562852"/>
                <a:ext cx="3260981" cy="1084714"/>
              </a:xfrm>
              <a:blipFill>
                <a:blip r:embed="rId2"/>
                <a:stretch>
                  <a:fillRect l="-1873" t="-4494" b="-7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B4F1DB7-B651-90B0-93DF-65AFA7B54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1EE211-7197-403B-C3B4-0F3BBA49C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05" y="3705446"/>
            <a:ext cx="4745211" cy="777394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79F39F-D1ED-999B-1566-97E9786CD52A}"/>
              </a:ext>
            </a:extLst>
          </p:cNvPr>
          <p:cNvSpPr txBox="1">
            <a:spLocks/>
          </p:cNvSpPr>
          <p:nvPr/>
        </p:nvSpPr>
        <p:spPr>
          <a:xfrm>
            <a:off x="6546345" y="2389218"/>
            <a:ext cx="3437189" cy="1084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We can use these to derive the corresponding Hamiltonians (these are symbols):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BB91F-7BEB-5DEA-AAC6-92AD4927A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073" y="3473932"/>
            <a:ext cx="5654631" cy="78169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3CF6FC-38A1-9FBB-C366-E32DD78DC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36" y="5227461"/>
            <a:ext cx="5557445" cy="360561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207FB5-ACFF-2AEB-29C7-B8795D9E5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035" y="4668535"/>
            <a:ext cx="6293079" cy="39159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2734DB-3C51-BC0F-028A-AF6F2A8CAB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043" y="5366469"/>
            <a:ext cx="3605491" cy="6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5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6AA4A-EF49-45CE-D034-B9CCF7C0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016F3A5-60D7-1BA4-CC6B-AF18901D2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9B996-6685-16E8-D4AC-73B5E1B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Hamiltonians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C98A9CF-7EA1-5734-EA46-9D6700A80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EFE63F1-E3B4-71B4-1E1A-D27A8A82D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3678-D83A-4EFC-541C-08AB63DB3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77" y="2551654"/>
            <a:ext cx="3260981" cy="10847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We find the corresponding DOs that satisfy the needed commutation relations: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338D9D2-3FEE-E780-3458-633D24467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6E9C99-DF4A-0D6F-6087-75974447DF05}"/>
              </a:ext>
            </a:extLst>
          </p:cNvPr>
          <p:cNvSpPr txBox="1">
            <a:spLocks/>
          </p:cNvSpPr>
          <p:nvPr/>
        </p:nvSpPr>
        <p:spPr>
          <a:xfrm>
            <a:off x="7367284" y="2551654"/>
            <a:ext cx="3382116" cy="1084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We now have homomorphisms relating DOs and symbols: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7CB796-C50E-6177-8176-6C2DD5C0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44" y="3787017"/>
            <a:ext cx="4781393" cy="580880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0E5A0-0EE4-8E80-B6D3-CD63B976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63" y="4827157"/>
            <a:ext cx="5517860" cy="444272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F1F588-F94A-9F6E-8736-0FED5FAFB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346" y="3684223"/>
            <a:ext cx="4630182" cy="177686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9623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1FC0D-483D-377D-D696-4736B6B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16F7FE1-CFBD-6BAD-A5D7-2AB16D877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F4B9C-C30B-E738-117C-A827982A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A Physical Application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C8C063-4F1D-DD26-C3E2-4C0B491B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6EF381F-716D-7BED-4BA4-193E5BD23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58D7DF1-DB7D-BA8E-2413-BE9589BE7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772D0-7636-EE0F-6FCD-970894EE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2AF0D4-A43D-4653-D3E2-011B752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F6098-84BD-1E3C-DDE9-E39A1838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DO and Symbol Mappings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FEC2840-BFD7-677E-1715-95327A7C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DEADC27-FFD4-9179-9A62-A62A053F7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A6D4-7566-F961-BB3D-F58636846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77" y="2551654"/>
            <a:ext cx="3260981" cy="108471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We generalize our findings so far to construct the space of symbols and the space of DOs: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12D1D6B-48A6-08CD-60E0-E6331DA6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9E76102-F7F4-BAF6-C3FA-B346E02F10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69235" y="2551654"/>
                <a:ext cx="2647694" cy="12889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We can then use the mappings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groupChr>
                      <m:groupChrPr>
                        <m:chr m:val="→"/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→"/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000" dirty="0"/>
                  <a:t> defined as: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9E76102-F7F4-BAF6-C3FA-B346E02F1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235" y="2551654"/>
                <a:ext cx="2647694" cy="1288948"/>
              </a:xfrm>
              <a:prstGeom prst="rect">
                <a:avLst/>
              </a:prstGeom>
              <a:blipFill>
                <a:blip r:embed="rId2"/>
                <a:stretch>
                  <a:fillRect l="-2535" t="-3318" r="-4147" b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659A64E-649C-2E1A-A0E9-65992653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820" y="3840602"/>
            <a:ext cx="2647694" cy="2234709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BCE1F5-B1F7-023D-0327-9D9DEBE7D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08" y="4022264"/>
            <a:ext cx="4908548" cy="1871384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7570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E2B56-3C35-4D14-8290-64B759C8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34C7157-A4E3-4004-4C45-3220CE0A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D1D6A-EFF2-10DF-90F2-949F2F44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Result - The Symbol Product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A1F8E97-A138-019D-ABA3-37FB4FD46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4397ABB-44E9-29BD-9F4E-6BBF0F6D6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665F-06E4-4A54-A283-ACC9C77BC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fontScale="92500"/>
          </a:bodyPr>
          <a:lstStyle/>
          <a:p>
            <a:r>
              <a:rPr lang="en-US" sz="2000" dirty="0"/>
              <a:t>We can now the define the symbol product that we have been looking for!</a:t>
            </a:r>
          </a:p>
          <a:p>
            <a:r>
              <a:rPr lang="en-US" sz="2000" dirty="0"/>
              <a:t>The result of this product is another symbol.</a:t>
            </a:r>
          </a:p>
          <a:p>
            <a:r>
              <a:rPr lang="en-US" sz="2000" dirty="0"/>
              <a:t>It follows from the composition of DOs.</a:t>
            </a:r>
          </a:p>
          <a:p>
            <a:r>
              <a:rPr lang="en-US" sz="2000" dirty="0"/>
              <a:t>It can be shown that it satisfies both parts of the Correspondence Principle.</a:t>
            </a:r>
          </a:p>
          <a:p>
            <a:r>
              <a:rPr lang="en-US" sz="2000" dirty="0"/>
              <a:t>It can also be shown to be have equivariance under the symmetry group SL(2,R).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AD5E6E3-984C-CA30-34BB-611117671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69CB8-5354-0018-916D-B5012B116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293" y="3728052"/>
            <a:ext cx="5776944" cy="781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AE8D88-3FF3-8D5A-94EE-5C8D6F7A9A09}"/>
              </a:ext>
            </a:extLst>
          </p:cNvPr>
          <p:cNvSpPr txBox="1"/>
          <p:nvPr/>
        </p:nvSpPr>
        <p:spPr>
          <a:xfrm rot="16200000">
            <a:off x="8069803" y="3589084"/>
            <a:ext cx="1065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04F20-49C5-9CD5-6B7C-C33F13D069B6}"/>
              </a:ext>
            </a:extLst>
          </p:cNvPr>
          <p:cNvSpPr txBox="1"/>
          <p:nvPr/>
        </p:nvSpPr>
        <p:spPr>
          <a:xfrm>
            <a:off x="8447948" y="4835110"/>
            <a:ext cx="52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6CFB2-EDF0-8D28-84FE-99059C9744E3}"/>
              </a:ext>
            </a:extLst>
          </p:cNvPr>
          <p:cNvSpPr txBox="1"/>
          <p:nvPr/>
        </p:nvSpPr>
        <p:spPr>
          <a:xfrm rot="16200000">
            <a:off x="9599296" y="3589084"/>
            <a:ext cx="1065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23B1B-0293-E779-BD08-7CF0D3802DEE}"/>
              </a:ext>
            </a:extLst>
          </p:cNvPr>
          <p:cNvSpPr txBox="1"/>
          <p:nvPr/>
        </p:nvSpPr>
        <p:spPr>
          <a:xfrm>
            <a:off x="9977441" y="4835110"/>
            <a:ext cx="52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261672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5F56C-5CD6-C7A0-3077-A30E6FB3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6A962E5-3CED-1820-4248-3A30F6CBF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43818-ECE3-68C1-3263-A893E66C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Discussion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64FC845-6160-0ED3-BB2E-B1426776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C741EDA-69E2-267C-A491-AF31F4B8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E671-CD21-FADF-BD3A-99BD5F086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1846" y="251734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 have demonstrated a procedure for developing and using the symbol product on a hyperboloid.</a:t>
            </a:r>
          </a:p>
          <a:p>
            <a:r>
              <a:rPr lang="en-US" sz="2000" dirty="0"/>
              <a:t>This extends our ability to perform QM calculations to curved phase spaces.</a:t>
            </a:r>
          </a:p>
          <a:p>
            <a:r>
              <a:rPr lang="en-US" sz="2000" dirty="0"/>
              <a:t>The Correspondence Principle means that our symbol product remains valid in the classical limit. 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61162B6-EB73-A00B-E684-5DBB9E0A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8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37F76-3942-7FCE-44F8-372BA5AA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DD24605-62EC-7990-43B3-EA98C7B35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EAE24-4B4C-2ACB-AE1E-A611C78A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Conclusion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EE1ADDC-FA8A-F9BB-A644-D35238F61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5F43127-B8F9-5CBB-9FA6-62240D3B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31AE-8DF1-CBBB-AE34-D4170FD0F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2" y="251734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Commonly-used DOs in QM often lead to messy calculations, especially in curved phase spaces.</a:t>
            </a:r>
          </a:p>
          <a:p>
            <a:r>
              <a:rPr lang="en-US" sz="2000" dirty="0"/>
              <a:t>We have shown symbols constrained to a hyperboloid’s surface and shown that they satisfy the Correspondence Principle.</a:t>
            </a:r>
          </a:p>
          <a:p>
            <a:r>
              <a:rPr lang="en-US" sz="2000" dirty="0"/>
              <a:t>Future work: Learn more about the functions on the hyperboloid, e.g. various subalgebras.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64F2A9F-B10F-C66D-D9F6-6047C03E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Skewer Hyperboloids">
            <a:extLst>
              <a:ext uri="{FF2B5EF4-FFF2-40B4-BE49-F238E27FC236}">
                <a16:creationId xmlns:a16="http://schemas.microsoft.com/office/drawing/2014/main" id="{A2625863-0E62-CD10-109F-40E5EA0CE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281" y="2806109"/>
            <a:ext cx="1179314" cy="156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30C6DE-24CF-CA98-39BB-BF58085D69DC}"/>
              </a:ext>
            </a:extLst>
          </p:cNvPr>
          <p:cNvCxnSpPr>
            <a:cxnSpLocks/>
          </p:cNvCxnSpPr>
          <p:nvPr/>
        </p:nvCxnSpPr>
        <p:spPr>
          <a:xfrm>
            <a:off x="5958994" y="5719833"/>
            <a:ext cx="115459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350AA5-5922-E572-2BD7-3563475277BE}"/>
              </a:ext>
            </a:extLst>
          </p:cNvPr>
          <p:cNvCxnSpPr>
            <a:cxnSpLocks/>
          </p:cNvCxnSpPr>
          <p:nvPr/>
        </p:nvCxnSpPr>
        <p:spPr>
          <a:xfrm>
            <a:off x="6517606" y="5158945"/>
            <a:ext cx="0" cy="112177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178C4B-38E2-D765-9E7D-915EB614253D}"/>
                  </a:ext>
                </a:extLst>
              </p:cNvPr>
              <p:cNvSpPr txBox="1"/>
              <p:nvPr/>
            </p:nvSpPr>
            <p:spPr>
              <a:xfrm>
                <a:off x="6357833" y="4888183"/>
                <a:ext cx="356916" cy="216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178C4B-38E2-D765-9E7D-915EB6142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833" y="4888183"/>
                <a:ext cx="356916" cy="216209"/>
              </a:xfrm>
              <a:prstGeom prst="rect">
                <a:avLst/>
              </a:prstGeom>
              <a:blipFill>
                <a:blip r:embed="rId3"/>
                <a:stretch>
                  <a:fillRect b="-8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454ACD-859A-2E1C-8D6E-19F85D13A6FC}"/>
                  </a:ext>
                </a:extLst>
              </p:cNvPr>
              <p:cNvSpPr txBox="1"/>
              <p:nvPr/>
            </p:nvSpPr>
            <p:spPr>
              <a:xfrm>
                <a:off x="7027836" y="5591964"/>
                <a:ext cx="356916" cy="216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454ACD-859A-2E1C-8D6E-19F85D13A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836" y="5591964"/>
                <a:ext cx="356916" cy="216209"/>
              </a:xfrm>
              <a:prstGeom prst="rect">
                <a:avLst/>
              </a:prstGeom>
              <a:blipFill>
                <a:blip r:embed="rId4"/>
                <a:stretch>
                  <a:fillRect b="-8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86261CC-ACB4-CDDD-9F15-A87ECD67FA51}"/>
              </a:ext>
            </a:extLst>
          </p:cNvPr>
          <p:cNvSpPr/>
          <p:nvPr/>
        </p:nvSpPr>
        <p:spPr>
          <a:xfrm>
            <a:off x="5911229" y="4949378"/>
            <a:ext cx="1391971" cy="13918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423C5-8A00-A2A4-36F8-9937DDAD2D96}"/>
              </a:ext>
            </a:extLst>
          </p:cNvPr>
          <p:cNvSpPr txBox="1"/>
          <p:nvPr/>
        </p:nvSpPr>
        <p:spPr>
          <a:xfrm>
            <a:off x="5296040" y="3434391"/>
            <a:ext cx="53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305E5-EB66-493B-1868-88F5EE2F8472}"/>
              </a:ext>
            </a:extLst>
          </p:cNvPr>
          <p:cNvSpPr txBox="1"/>
          <p:nvPr/>
        </p:nvSpPr>
        <p:spPr>
          <a:xfrm>
            <a:off x="6375562" y="2418008"/>
            <a:ext cx="56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299ED-8B49-CAE2-A151-2EC6A207BA0D}"/>
              </a:ext>
            </a:extLst>
          </p:cNvPr>
          <p:cNvSpPr txBox="1"/>
          <p:nvPr/>
        </p:nvSpPr>
        <p:spPr>
          <a:xfrm>
            <a:off x="9403320" y="2439774"/>
            <a:ext cx="93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Curved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2D09D2-6FC9-FBC0-8897-1BCC924F7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29" y="2751030"/>
            <a:ext cx="1595541" cy="1616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A94A5A-349D-A729-63EB-6F2DA361B343}"/>
                  </a:ext>
                </a:extLst>
              </p:cNvPr>
              <p:cNvSpPr txBox="1"/>
              <p:nvPr/>
            </p:nvSpPr>
            <p:spPr>
              <a:xfrm>
                <a:off x="9317500" y="5369627"/>
                <a:ext cx="967666" cy="444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groupChr>
                        <m:groupChrPr>
                          <m:chr m:val="→"/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A94A5A-349D-A729-63EB-6F2DA361B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500" y="5369627"/>
                <a:ext cx="967666" cy="444674"/>
              </a:xfrm>
              <a:prstGeom prst="rect">
                <a:avLst/>
              </a:prstGeom>
              <a:blipFill>
                <a:blip r:embed="rId6"/>
                <a:stretch>
                  <a:fillRect t="-13699" r="-24528" b="-2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2678F6-82B5-41EE-6790-52C91F5F5E2E}"/>
              </a:ext>
            </a:extLst>
          </p:cNvPr>
          <p:cNvCxnSpPr/>
          <p:nvPr/>
        </p:nvCxnSpPr>
        <p:spPr>
          <a:xfrm>
            <a:off x="6649375" y="4413560"/>
            <a:ext cx="0" cy="474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F0444CE-E4D0-8681-D958-A27C9FBDDF8E}"/>
              </a:ext>
            </a:extLst>
          </p:cNvPr>
          <p:cNvSpPr txBox="1"/>
          <p:nvPr/>
        </p:nvSpPr>
        <p:spPr>
          <a:xfrm>
            <a:off x="6692629" y="4491707"/>
            <a:ext cx="170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Well-known CP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EAAF8F-E384-686A-AFD7-62D17FF91FE9}"/>
              </a:ext>
            </a:extLst>
          </p:cNvPr>
          <p:cNvCxnSpPr>
            <a:stCxn id="17" idx="3"/>
          </p:cNvCxnSpPr>
          <p:nvPr/>
        </p:nvCxnSpPr>
        <p:spPr>
          <a:xfrm>
            <a:off x="7506770" y="3559422"/>
            <a:ext cx="18965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ED8866-5936-9E9A-DF16-6982058738DF}"/>
              </a:ext>
            </a:extLst>
          </p:cNvPr>
          <p:cNvSpPr txBox="1"/>
          <p:nvPr/>
        </p:nvSpPr>
        <p:spPr>
          <a:xfrm>
            <a:off x="7898630" y="3169790"/>
            <a:ext cx="117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work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D1F1B1-D779-5704-F969-06A493B31DE3}"/>
              </a:ext>
            </a:extLst>
          </p:cNvPr>
          <p:cNvCxnSpPr>
            <a:endCxn id="18" idx="0"/>
          </p:cNvCxnSpPr>
          <p:nvPr/>
        </p:nvCxnSpPr>
        <p:spPr>
          <a:xfrm>
            <a:off x="9801333" y="4491707"/>
            <a:ext cx="0" cy="877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FC8E1A9-3DB4-D4C6-26CD-02D05D6D7505}"/>
              </a:ext>
            </a:extLst>
          </p:cNvPr>
          <p:cNvSpPr txBox="1"/>
          <p:nvPr/>
        </p:nvSpPr>
        <p:spPr>
          <a:xfrm>
            <a:off x="9854933" y="4554245"/>
            <a:ext cx="96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Shown CP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54BB18-9E74-4994-BE98-2707D4425455}"/>
              </a:ext>
            </a:extLst>
          </p:cNvPr>
          <p:cNvSpPr txBox="1"/>
          <p:nvPr/>
        </p:nvSpPr>
        <p:spPr>
          <a:xfrm>
            <a:off x="8771270" y="6018535"/>
            <a:ext cx="2111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the Statistical Description </a:t>
            </a:r>
          </a:p>
        </p:txBody>
      </p:sp>
    </p:spTree>
    <p:extLst>
      <p:ext uri="{BB962C8B-B14F-4D97-AF65-F5344CB8AC3E}">
        <p14:creationId xmlns:p14="http://schemas.microsoft.com/office/powerpoint/2010/main" val="1676641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5E369-578F-FB2B-8C95-70CA9745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A89C86A-1C8D-D93A-B879-3D9C3732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8FB5E-AC92-A85D-E333-7BA9F1AF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References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32ED4E8-EFD4-F522-4463-F2A8C3ED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0A7D69D-55F6-B070-24B5-C6C01012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9A35D-1E56-348B-C97A-BC8E28FC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2" y="2517349"/>
            <a:ext cx="7915332" cy="3639450"/>
          </a:xfrm>
        </p:spPr>
        <p:txBody>
          <a:bodyPr anchor="ctr">
            <a:normAutofit/>
          </a:bodyPr>
          <a:lstStyle/>
          <a:p>
            <a:r>
              <a:rPr lang="en-US" sz="1400" dirty="0">
                <a:effectLst/>
              </a:rPr>
              <a:t>“2. the Statistical Description of Physical Systems¶.” </a:t>
            </a:r>
            <a:r>
              <a:rPr lang="en-US" sz="1400" i="1" dirty="0">
                <a:effectLst/>
              </a:rPr>
              <a:t>2. The Statistical Description of Physical Systems - Introduction to Statistical Mechanics</a:t>
            </a:r>
            <a:r>
              <a:rPr lang="en-US" sz="1400" dirty="0">
                <a:effectLst/>
              </a:rPr>
              <a:t>, web.stanford.edu/~</a:t>
            </a:r>
            <a:r>
              <a:rPr lang="en-US" sz="1400" dirty="0" err="1">
                <a:effectLst/>
              </a:rPr>
              <a:t>peastman</a:t>
            </a:r>
            <a:r>
              <a:rPr lang="en-US" sz="1400" dirty="0">
                <a:effectLst/>
              </a:rPr>
              <a:t>/</a:t>
            </a:r>
            <a:r>
              <a:rPr lang="en-US" sz="1400" dirty="0" err="1">
                <a:effectLst/>
              </a:rPr>
              <a:t>statmech</a:t>
            </a:r>
            <a:r>
              <a:rPr lang="en-US" sz="1400" dirty="0">
                <a:effectLst/>
              </a:rPr>
              <a:t>/statisticaldescription.html. Accessed 11 Apr. 2025. </a:t>
            </a:r>
          </a:p>
          <a:p>
            <a:r>
              <a:rPr lang="en-US" sz="1400" dirty="0" err="1">
                <a:effectLst/>
              </a:rPr>
              <a:t>Bokulich</a:t>
            </a:r>
            <a:r>
              <a:rPr lang="en-US" sz="1400" dirty="0">
                <a:effectLst/>
              </a:rPr>
              <a:t>, Alisa, and Peter </a:t>
            </a:r>
            <a:r>
              <a:rPr lang="en-US" sz="1400" dirty="0" err="1">
                <a:effectLst/>
              </a:rPr>
              <a:t>Bokulich</a:t>
            </a:r>
            <a:r>
              <a:rPr lang="en-US" sz="1400" dirty="0">
                <a:effectLst/>
              </a:rPr>
              <a:t>. “Bohr’s Correspondence Principle.” </a:t>
            </a:r>
            <a:r>
              <a:rPr lang="en-US" sz="1400" i="1" dirty="0">
                <a:effectLst/>
              </a:rPr>
              <a:t>Stanford Encyclopedia of Philosophy</a:t>
            </a:r>
            <a:r>
              <a:rPr lang="en-US" sz="1400" dirty="0">
                <a:effectLst/>
              </a:rPr>
              <a:t>, Stanford University, 13 Aug. 2020, plato.stanford.edu/entries/</a:t>
            </a:r>
            <a:r>
              <a:rPr lang="en-US" sz="1400" dirty="0" err="1">
                <a:effectLst/>
              </a:rPr>
              <a:t>bohr</a:t>
            </a:r>
            <a:r>
              <a:rPr lang="en-US" sz="1400" dirty="0">
                <a:effectLst/>
              </a:rPr>
              <a:t>-correspondence/. </a:t>
            </a:r>
          </a:p>
          <a:p>
            <a:r>
              <a:rPr lang="en-US" sz="1400" dirty="0">
                <a:effectLst/>
              </a:rPr>
              <a:t>“Quantum vs. Classical.” </a:t>
            </a:r>
            <a:r>
              <a:rPr lang="en-US" sz="1400" i="1" dirty="0">
                <a:effectLst/>
              </a:rPr>
              <a:t>The Quantum Atlas</a:t>
            </a:r>
            <a:r>
              <a:rPr lang="en-US" sz="1400" dirty="0">
                <a:effectLst/>
              </a:rPr>
              <a:t>, quantumatlas.umd.edu/entry/quantum-classical/. Accessed 11 Apr. 2025. </a:t>
            </a:r>
          </a:p>
          <a:p>
            <a:r>
              <a:rPr lang="en-US" sz="1400" dirty="0" err="1">
                <a:effectLst/>
              </a:rPr>
              <a:t>Suetin</a:t>
            </a:r>
            <a:r>
              <a:rPr lang="en-US" sz="1400" dirty="0">
                <a:effectLst/>
              </a:rPr>
              <a:t>, P. K., et al. </a:t>
            </a:r>
            <a:r>
              <a:rPr lang="en-US" sz="1400" i="1" dirty="0">
                <a:effectLst/>
              </a:rPr>
              <a:t>Linear Algebra and Geometry</a:t>
            </a:r>
            <a:r>
              <a:rPr lang="en-US" sz="1400" dirty="0">
                <a:effectLst/>
              </a:rPr>
              <a:t>. CRC Press, 1989.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09CC200-D0D9-F627-6ECF-013B0C6F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46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FAF2B-A819-489B-90B3-96C66447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644BE9-9E4A-19C0-BB1C-3A1F82A52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B7D85-F833-ABE0-091E-8D14C09B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Acknowledgements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4C75075-454F-8ACF-9BD9-2F3E5A54A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347160A-0A20-ACD3-1DCB-12F9E85D9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0CC49B0-4D00-8DED-92D5-AE56735AC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DEB1-7A1C-7870-600D-2A31F1681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Huge thanks to Dr. </a:t>
            </a:r>
            <a:r>
              <a:rPr lang="en-US" sz="2000" dirty="0" err="1"/>
              <a:t>Karabegov</a:t>
            </a:r>
            <a:r>
              <a:rPr lang="en-US" sz="2000" dirty="0"/>
              <a:t> for his patience and advice.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EBAB4-D044-F4C4-05A6-51791B2D1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415" y="3946224"/>
            <a:ext cx="5776944" cy="7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3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1053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Properties of Symbols on a Hyperboloid</vt:lpstr>
      <vt:lpstr>Classical Vs. Quantum Mechanics</vt:lpstr>
      <vt:lpstr>Flat Phase Space</vt:lpstr>
      <vt:lpstr>Differential Operators and Symbols</vt:lpstr>
      <vt:lpstr>Research Question</vt:lpstr>
      <vt:lpstr>The Correspondence Principle</vt:lpstr>
      <vt:lpstr>Hyperboloids</vt:lpstr>
      <vt:lpstr>Goals</vt:lpstr>
      <vt:lpstr>Coordinate Transforms</vt:lpstr>
      <vt:lpstr>Hamiltonians</vt:lpstr>
      <vt:lpstr>Hamiltonians</vt:lpstr>
      <vt:lpstr>A Physical Application</vt:lpstr>
      <vt:lpstr>DO and Symbol Mappings</vt:lpstr>
      <vt:lpstr>Result - The Symbol Product</vt:lpstr>
      <vt:lpstr>Discussion</vt:lpstr>
      <vt:lpstr>Conclusion</vt:lpstr>
      <vt:lpstr>References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Browning</dc:creator>
  <cp:lastModifiedBy>Simon Browning</cp:lastModifiedBy>
  <cp:revision>46</cp:revision>
  <dcterms:created xsi:type="dcterms:W3CDTF">2025-04-09T03:06:17Z</dcterms:created>
  <dcterms:modified xsi:type="dcterms:W3CDTF">2025-04-11T20:17:42Z</dcterms:modified>
</cp:coreProperties>
</file>